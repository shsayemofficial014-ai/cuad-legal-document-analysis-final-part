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Three-model pipeline on CUAD. Most of what we report is negative, and we present those results as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/brac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516" y="292608"/>
            <a:ext cx="164592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048" y="19202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838048" y="239572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Legal Document Analysis System:</a:t>
            </a:r>
            <a:endParaRPr lang="en-US" sz="23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Detection, Category-Level Risk Prioritization</a:t>
            </a:r>
            <a:endParaRPr lang="en-US" sz="23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Plain-Language Explanation on CUAD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838048" y="37490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8048" y="40233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ID: P25301051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38048" y="435254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Jerin Aktar — 22101279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Mazumdar — 24141229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Shoyeb Hasan Sayem — 22101386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8048" y="53218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38048" y="5596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Utsha Kumar Roy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38048" y="62727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University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 &amp; 3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data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long, the clauses that matter are short, and 510 contracts is the whole dataset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3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385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clause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</a:t>
            </a:r>
            <a:endParaRPr lang="en-US" sz="385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window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568696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850" dirty="0"/>
          </a:p>
        </p:txBody>
      </p:sp>
      <p:sp>
        <p:nvSpPr>
          <p:cNvPr id="13" name="Text 11"/>
          <p:cNvSpPr txBox="1"/>
          <p:nvPr/>
        </p:nvSpPr>
        <p:spPr>
          <a:xfrm>
            <a:off x="5568696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50" dirty="0"/>
          </a:p>
        </p:txBody>
      </p:sp>
      <p:pic>
        <p:nvPicPr>
          <p:cNvPr id="14" name="Image 0" descr="fig/spl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6583680" cy="37124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336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positive rate, train vs test (Fig. 3.1)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1371600"/>
            <a:ext cx="4297680" cy="1508760"/>
          </a:xfrm>
          <a:prstGeom prst="roundRect">
            <a:avLst>
              <a:gd name="adj" fmla="val 4242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36992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 80/20 split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1883664"/>
            <a:ext cx="3895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train / 102 test, seed 42, reused by all three models. No clause from a training contract can reach the test set.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406640" y="3017520"/>
            <a:ext cx="4297680" cy="16002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319125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36992" y="31272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7607808" y="3529584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rates run 100% to 2.5%. Five categories have ≤7 positive test contracts and score 0.000 F1.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406640" y="4754880"/>
            <a:ext cx="4297680" cy="1554480"/>
          </a:xfrm>
          <a:prstGeom prst="roundRect">
            <a:avLst>
              <a:gd name="adj" fmla="val 411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49286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36992" y="48646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grown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7607808" y="526694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CUAD's annotation reportedly cost ≈$2M of attorney time. Transfer learning is mandatory and overfitting is the main enemy.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and how it reads a contract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with a failure point at every boundary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EFF1F7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807208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Presence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+ windowed BERT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5065776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Span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7324344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97496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Risk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97496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lookup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17830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9582912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56064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Explanation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56064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template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07208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52928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 lost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65776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1496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lost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24344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70064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lookup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582912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28632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wrong template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611880"/>
            <a:ext cx="7315200" cy="329184"/>
          </a:xfrm>
          <a:prstGeom prst="rect">
            <a:avLst/>
          </a:prstGeom>
          <a:solidFill>
            <a:srgbClr val="EFF1F7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611880"/>
            <a:ext cx="201168" cy="329184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947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— 196 chars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69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2596896" y="4069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920240" y="443484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920240" y="4434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3968496" y="4434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291840" y="480060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91840" y="4800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340096" y="4800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663440" y="516636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63440" y="5166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4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711696" y="5166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559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22 windows for a median contract, 226 for the longest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760720" y="42519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06440" y="4370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0.91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present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38160" y="361188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0" y="378561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668512" y="37216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recall ceiling</a:t>
            </a:r>
            <a:endParaRPr lang="en-US" sz="155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41239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overlap by 500 chars — more than the median clause — so nothing falls between them.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8138160" y="5029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21040" y="52029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68512" y="5138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precision</a:t>
            </a:r>
            <a:endParaRPr lang="en-US" sz="1550" dirty="0"/>
          </a:p>
        </p:txBody>
      </p:sp>
      <p:sp>
        <p:nvSpPr>
          <p:cNvPr id="58" name="Text 56"/>
          <p:cNvSpPr txBox="1"/>
          <p:nvPr/>
        </p:nvSpPr>
        <p:spPr>
          <a:xfrm>
            <a:off x="8339328" y="554126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spurious window anywhere flips the whole contract positive. Long contracts false-positive structurally.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before training: question-guided retrieval caps recall at 64.0% — below what the baseline already achieves — so retrieval was dropped without spending a training run on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 &amp; 6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trained, and how we test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on one laptop; one held-out split reused by all of them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675120" cy="51206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996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371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3716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· 24,000 of 53,662 windows · batch 16 · LR 2e-5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716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≈49 min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6675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06654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19385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193852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 · 8,000 of 11,156 · 320 tokens · LR 3e-5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93852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≈23 min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6675120" cy="51206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633472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250545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25054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 · 4,000 of 11,156 · CPU · LR 3e-4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50545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 min</a:t>
            </a:r>
            <a:endParaRPr lang="en-US" sz="1350" dirty="0"/>
          </a:p>
        </p:txBody>
      </p:sp>
      <p:pic>
        <p:nvPicPr>
          <p:cNvPr id="21" name="Image 0" descr="fig/l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6675120" cy="188366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51023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decay, no warmup (Fig. 5.1)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3492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M4, 16 GB, Metal — no CUDA. DeBERTa-v3 produced NaN gradients on MPS, so backbones were downsized; gradient clipping fires on 98.4% of steps.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98080" y="1371600"/>
            <a:ext cx="4206240" cy="1481328"/>
          </a:xfrm>
          <a:prstGeom prst="roundRect">
            <a:avLst>
              <a:gd name="adj" fmla="val 43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28432" y="1481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held out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7699248" y="1883664"/>
            <a:ext cx="3803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Presence: 5% of TRAINING windows. Span and the deployed summarizer: nothing. No hyperparameter was ever tuned — every value is a published default.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498080" y="2971800"/>
            <a:ext cx="4206240" cy="1481328"/>
          </a:xfrm>
          <a:prstGeom prst="roundRect">
            <a:avLst>
              <a:gd name="adj" fmla="val 43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0" y="31455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28432" y="3081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we got wrong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7699248" y="3483864"/>
            <a:ext cx="3803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summarizer run monitored loss on 300 TEST clauses. It selected no checkpoint, and the deployed model was rebuilt without it.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498080" y="4517136"/>
            <a:ext cx="4206240" cy="1783080"/>
          </a:xfrm>
          <a:prstGeom prst="roundRect">
            <a:avLst>
              <a:gd name="adj" fmla="val 359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80960" y="469087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28432" y="46268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7699248" y="5029200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unseen contracts · 4,182 presence decisions · 2,667 span windows · 150 clauses. Bootstrap resamples CONTRACTS, not cells, because 41 decisions move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the transformer loses to a bag of words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micro-F1 over 4,182 (contract, category) decisions</a:t>
            </a:r>
            <a:endParaRPr lang="en-US" sz="1600" dirty="0"/>
          </a:p>
        </p:txBody>
      </p:sp>
      <p:pic>
        <p:nvPicPr>
          <p:cNvPr id="6" name="Image 0" descr="fig/chart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465576"/>
          </a:xfrm>
          <a:prstGeom prst="rect">
            <a:avLst/>
          </a:prstGeom>
        </p:spPr>
      </p:pic>
      <p:pic>
        <p:nvPicPr>
          <p:cNvPr id="7" name="Image 1" descr="fig/per_category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2788920" cy="17190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2044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F1, twelve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categories (Fig. 6.3)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766560" y="1371600"/>
            <a:ext cx="493776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944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96912" y="14813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behind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6967728" y="1883664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lexical baseline beats the windowed transformer by +0.081 — and it survives every control we could construct.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766560" y="2971800"/>
            <a:ext cx="493776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0" y="31455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96912" y="30815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withdrew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967728" y="3483864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ensemble's +0.0014 lead is not a result: bootstrap, seed variance and split variance all exceed it.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766560" y="457200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49440" y="474573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296912" y="46817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one end, absent at the other</a:t>
            </a:r>
            <a:endParaRPr lang="en-US" sz="1550" dirty="0"/>
          </a:p>
        </p:txBody>
      </p:sp>
      <p:sp>
        <p:nvSpPr>
          <p:cNvPr id="20" name="Text 16"/>
          <p:cNvSpPr txBox="1"/>
          <p:nvPr/>
        </p:nvSpPr>
        <p:spPr>
          <a:xfrm>
            <a:off x="6967728" y="5084064"/>
            <a:ext cx="4535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1.000, Parties 0.995, Governing Law 0.961. Five categories with ≤7 test positives score 0.000 — micro-F1 0.776 against macro-F1 0.572.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ranked a leaderboard by noise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alternative explanation for the transformer's defeat, tested one at a time</a:t>
            </a:r>
            <a:endParaRPr lang="en-US" sz="1600" dirty="0"/>
          </a:p>
        </p:txBody>
      </p:sp>
      <p:pic>
        <p:nvPicPr>
          <p:cNvPr id="6" name="Image 0" descr="fig/char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309360" cy="3813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86600" y="1417320"/>
            <a:ext cx="4617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Undertrained?  all 53,662 windows → −0.0004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Unlucky seed?  3 seeds → the gap is 9.5 SD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pooling?  6 rules → none reach the baseline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threshold?  explains 0.056 — a real caveat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086600" y="3337560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351129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16952" y="34472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the ensemble at all?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287768" y="3849624"/>
            <a:ext cx="4215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 changes nothing measurably — which is itself a finding. We keep it for the balanced error profile and 4× lower seed variance.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086600" y="4846320"/>
            <a:ext cx="461772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9480" y="502005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16952" y="4956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7287768" y="5358384"/>
            <a:ext cx="4215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loses. It is not a budget, seed or aggregation artefact — though part of the gap is an operating point nobody chose.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34924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Dataset-split variance (SD 0.0063 over 20 refits) is the largest of the three and the one most often omitted — reseeding holds the test set fixed and cannot see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threshold, and what the confidence means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measured only after the fact — and both turned out to matter</a:t>
            </a:r>
            <a:endParaRPr lang="en-US" sz="1600" dirty="0"/>
          </a:p>
        </p:txBody>
      </p:sp>
      <p:pic>
        <p:nvPicPr>
          <p:cNvPr id="6" name="Image 0" descr="fig/threshold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0416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 and reliability diagram (Fig. 6.4)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0" y="154533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02752" y="1481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the softmax default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973568" y="1883664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Swept, the transformer reaches 0.750 instead of 0.694. Part of its deficit is an un-chosen operating point.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0" y="2816352"/>
            <a:ext cx="3931920" cy="1353312"/>
          </a:xfrm>
          <a:prstGeom prst="roundRect">
            <a:avLst>
              <a:gd name="adj" fmla="val 473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2990088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02752" y="2926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3328416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above 0.9 mean the clause is present about 73% of the time — and the app shows this as a confidence bar.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370832"/>
            <a:ext cx="11155680" cy="1353312"/>
          </a:xfrm>
          <a:prstGeom prst="roundRect">
            <a:avLst>
              <a:gd name="adj" fmla="val 473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44568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78992" y="4480560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do about it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882896"/>
            <a:ext cx="10753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adopt the swept threshold — choosing it on the test set is exactly the tuning our protocol certifies against. The fix is concrete: carve a validation split from the 408 training contracts, select the threshold there, and fit a Platt scaling map on the same split. Neither costs compute, and neither touches test data.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704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model also over-fires by design: precision 0.562 at threshold 0.5, and more training data moved recall up (0.908 → 0.927) while precision fell — a maximum over ~35 windows is 35 chances to be wrong.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disagrees with the purpose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HIGH-RISK clauses missed, by configuration</a:t>
            </a:r>
            <a:endParaRPr lang="en-US" sz="1600" dirty="0"/>
          </a:p>
        </p:txBody>
      </p:sp>
      <p:pic>
        <p:nvPicPr>
          <p:cNvPr id="6" name="Image 0" descr="fig/chart_high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75120" cy="40325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60920" y="13258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configuration that wins on micro-F1 is the worst one for the clauses that matter most.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37744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High-risk gold clauses in 102 contracts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finds 110 and loses 66; OR finds 152 and loses 24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on micro-F1 costs a signer 42 High-risk clauses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micro-F1's mass is dates and party names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4434840"/>
            <a:ext cx="4343400" cy="1691640"/>
          </a:xfrm>
          <a:prstGeom prst="roundRect">
            <a:avLst>
              <a:gd name="adj" fmla="val 378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3800" y="460857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91272" y="4544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rare tail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562088" y="4946904"/>
            <a:ext cx="39410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rule adds nothing at all: F1 0.343 either way, with detections cut from 35 of 70 to 17 of 70.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321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as a diagnosis, not a retuning — selecting the OR rule after seeing these test-set results would be test-set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span model is handed the wrong window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taught it a layout that inference never provides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training 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0352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737360"/>
            <a:ext cx="1371600" cy="41148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≈150 chars in — every single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371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737360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249424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249424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761488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761488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3101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anywhere — or not in the window at all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31.7%</a:t>
            </a:r>
            <a:endParaRPr lang="en-US" sz="3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98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window has no clause in it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794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38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398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even when the window IS right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794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0.763→0.386</a:t>
            </a:r>
            <a:endParaRPr lang="en-US" sz="38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398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token-F1, isolated → in the pipeline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794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5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39826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say “not here”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155680" cy="1371600"/>
          </a:xfrm>
          <a:prstGeom prst="roundRect">
            <a:avLst>
              <a:gd name="adj" fmla="val 466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1572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" y="5093208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causes, both fixable without a bigger model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495544"/>
            <a:ext cx="1075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was trained to detect, not to locate — we reused a detector as a locator. And the focus window was re-centred on the answer at training time only, narrowing the distribution the model can read. SQuAD v2-style abstention and varied answer offsets address them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summarizer became a 41-way classifier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all 41 target sentences ourselves — and that one decision is what turned generation into classification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attempted assignment … will be void”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574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learns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CATEGORY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0574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6002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Anti-Assignment template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1600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70%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093976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0939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Liability template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587752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FDF0F1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5877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ROFR template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5877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30%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90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41 pre-written templates in total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118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 → 0.116</a:t>
            </a:r>
            <a:endParaRPr lang="en-US" sz="38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15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ROUGE-L: our templates → clause-specific references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6118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0.115</a:t>
            </a:r>
            <a:endParaRPr lang="en-US" sz="38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215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with NO model at all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1538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outputs are a template, copied verbatim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11149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" y="5047488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worse than a low score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449824"/>
            <a:ext cx="10753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hallucinate — it can only emit one of 41 human-written sentences. But when it picks the wrong one the output is fluent, confident, and about a different provision entirely, which is undetectable from the output alone. Fine-tuning also made it worse: zero-shot scores 0.299 against the same references.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78.3% of clauses are lost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describes what a user actually experiences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2396" y="155448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2396" y="1554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 gold clauses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4144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−296 clauses (22.0%)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25396" y="274320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5396" y="27432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1,052 survive presence detection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3016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−759 clauses (56.3%)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05756" y="39319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05756" y="3931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survive span extraction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74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21.7%</a:t>
            </a:r>
            <a:endParaRPr lang="en-US" sz="47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all three stages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[19.6%, 23.9%]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50292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the component scores predicts ≈64%. The pipeline delivers a third of it — the selected window contains the clause only 68.3% of the time, and extraction then succeeds 39.7% of the time.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survived every check; five beliefs we started with did not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that held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801368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evidence over the whole document beats windowed semantic evidence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95144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+0.081, surviving budget, seed, pooling and threshold controls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971800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feasibility ceiling before training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465576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retrieval check (64%) killed an architecture at zero cost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142232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models damps seed variance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63600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is 4× less seed-sensitive than the transformer inside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5312664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 genuinely works — given the right window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806440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0.763, CI [0.740, 0.782]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3258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that did not survive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63640" y="170992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ensemble beats the baseline”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1305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+0.0014 — smaller than bootstrap, seed and split noise alike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64261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8232" y="2688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summarizer summarizes”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 → 0.116; a lookup table scores the same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357530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8232" y="36210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“Component scores describe the system”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39959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≈64% predicted, 21.7% delivered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50799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Longformer will not fit in memory”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28232" y="49286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at batch 1 — 14.7 GB of 16. Time is the barrier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54406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“Max-pooling is the ceiling”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28232" y="58613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tested; it is a secondary factor, not the cause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 was missing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 at the start — each was found by running the experiment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02536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67335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has no plain-English targets at all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67335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wrote 41 ourselves — and that decision is precisely what collapsed the summarizer into a classifier.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00984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9718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risk-severity model to build 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9718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NLP treats importance as category membership, not danger to a party. The severity scale was built from scratch.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99432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270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tail is effectively few-shot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427024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11–42 positive training contracts for the bottom ten categories. Five score 0.000 and no model learns them at this size.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897880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55686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rare-tail “errors” are annotation disagreements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556869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 labelled Third Party Beneficiary reads as an assignment clause — our 0.000 scores mix model failure with label ceiling.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still lacks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the evidence, stated so an examiner does not have to find them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02536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67335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carved a validation split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67335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threshold cannot be chosen and the confidence cannot be calibrated without redrawing the protocol.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00984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9718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assigned per category, not per clause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9718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cannot tell a $10,000 liability cap from a $10,000,000 one — the specific wording is not modelled.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9943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270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jurisdiction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427024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US contracts from SEC filings. No Bangladeshi contract, no consumer or employment agreement, no other language.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89788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55686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reports end-to-end survival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556869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no published figure to compare our 21.7% against — which is also why the number was worth measuring.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Clausify, and how far we came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 — with every measured limit stated on the interface</a:t>
            </a:r>
            <a:endParaRPr lang="en-US" sz="1600" dirty="0"/>
          </a:p>
        </p:txBody>
      </p:sp>
      <p:pic>
        <p:nvPicPr>
          <p:cNvPr id="6" name="Image 0" descr="fig/app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0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risk-prioritized report (Fig. 7.2)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66160" cy="1097280"/>
          </a:xfrm>
          <a:prstGeom prst="roundRect">
            <a:avLst>
              <a:gd name="adj" fmla="val 58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54533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65192" y="14813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measured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4636008" y="188366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contract 27.1 s, worst case 32.4 s on CPU.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38160" y="1371600"/>
            <a:ext cx="3566160" cy="1097280"/>
          </a:xfrm>
          <a:prstGeom prst="roundRect">
            <a:avLst>
              <a:gd name="adj" fmla="val 58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15453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68512" y="14813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probability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188366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 — a nearly full bar means ≈73%.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434840" y="26060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277977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65192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contracts are truncated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4636008" y="3118104"/>
            <a:ext cx="3163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30-window cap = 45,500 chars; 38.4% of CUAD exceeds it.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138160" y="26060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277977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68512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holds — locally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3118104"/>
            <a:ext cx="3163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into memory, never written to disk or logged.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9776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at the end of it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48640" y="437083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66344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78992" y="4425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models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75488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span and explanation, reproducible from saved checkpoints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37083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46520" y="466344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93992" y="4425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experiments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93992" y="475488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controls, rare tail, risk-weighted, threshold, calibration, ablation, end-to-end, cost benchmark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533095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1520" y="562356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78992" y="5385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numbers verified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078992" y="57150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reported figures and 17 derived comparisons, checked mechanically against source data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263640" y="533095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562356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93992" y="5385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793992" y="57150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locally, with its measured limitations stated in the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 — no compute required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highest-value things left, and none of them needs a GPU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7335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a validation split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67335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part of the 408 training contracts, then select the threshold and fit a calibration map there. Fixes two problems at once.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9718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someone using Clausify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9718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participants, watching for over-trust in the quoted text and the confidence bar — both of which we have shown are unwarranted.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90288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270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the objective that matters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427024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risk-weighted criterion, choose the ensemble rule on a validation split, then report once on test.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449824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888736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88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5686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confidence score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556869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regression. Fixes ECE 0.201 with no retraining at all.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2286000" cy="301752"/>
          </a:xfrm>
          <a:prstGeom prst="roundRect">
            <a:avLst>
              <a:gd name="adj" fmla="val 45455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II — modelling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targets a specific failure from the problems section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7335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span model abstain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67335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v2-style unanswerable examples, and training on varied answer offsets rather than a fixed 150-character position.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9718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trained for locating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97180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max-pool argmax with a model actually asked which window holds the clause — fixes the 31.7% wrong-window rate.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90288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2702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Clause-diverse summarization targets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4270248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150-clause pilot to a few thousand references, so the task stops being 41-way classification.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449824"/>
            <a:ext cx="11155680" cy="1197864"/>
          </a:xfrm>
          <a:prstGeom prst="roundRect">
            <a:avLst>
              <a:gd name="adj" fmla="val 458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888736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88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568696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and contracts beyond CUAD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556869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SD 0.0063 is the largest uncertainty we measured; three locally sourced agreements would say more than further CUAD tuning.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 Detection, Category-Level Risk Prioritization and Plain-Language Explanation on CUAD</dc:title>
  <dc:subject>PptxGenJS Presentation</dc:subject>
  <dc:creator>Jerin Aktar, Afnan Mazumdar, Shoyeb Hasan Sayem</dc:creator>
  <cp:lastModifiedBy>Jerin Aktar, Afnan Mazumdar, Shoyeb Hasan Sayem</cp:lastModifiedBy>
  <cp:revision>1</cp:revision>
  <dcterms:created xsi:type="dcterms:W3CDTF">2026-09-28T16:45:39Z</dcterms:created>
  <dcterms:modified xsi:type="dcterms:W3CDTF">2026-09-28T16:45:39Z</dcterms:modified>
</cp:coreProperties>
</file>