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of what we report is negative. We present the failures as the contribution.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9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Clause Detection, Category-Level Risk Prioritization</a:t>
            </a:r>
            <a:endParaRPr lang="en-US" sz="3300" dirty="0"/>
          </a:p>
          <a:p>
            <a:pPr indent="0" marL="0">
              <a:lnSpc>
                <a:spcPts val="39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Plain-Language Explanation on CUAD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37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built, where every part of it breaks, and what we would do next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434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Jerin Aktar  22101279     Afnan Mazumdar  24141229     Shoyeb Hasan Sayem  22101386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Utsha Kumar Roy  ·  Department of CSE, BRAC University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are long; the clauses that matter are short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33,000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048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characters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91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16×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4048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than a transformer window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691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4048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clause, characters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89720" y="1691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9189720" y="24048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categories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447288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33856" y="3383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CUAD gives you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" y="3813048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 expert-annotated contracts. Given a category, find the clause text. It stops at the span — no indication of what the clause means for the signer.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324612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4808" y="344728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48856" y="33832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tried to add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83096" y="3813048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level per clause and a plain-English sentence. Both added layers turned out weaker than intended, and this defence is largely about how we found that out.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 — and a failure point at every boundary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057400" cy="1600200"/>
          </a:xfrm>
          <a:prstGeom prst="roundRect">
            <a:avLst>
              <a:gd name="adj" fmla="val 5714"/>
            </a:avLst>
          </a:prstGeom>
          <a:solidFill>
            <a:srgbClr val="EFF1F7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057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8716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33k chars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615184" y="24688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807208" y="1874520"/>
            <a:ext cx="2057400" cy="1600200"/>
          </a:xfrm>
          <a:prstGeom prst="roundRect">
            <a:avLst>
              <a:gd name="adj" fmla="val 5714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98648" y="2057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Presence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898648" y="248716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TF–IDF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 BERT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873752" y="24688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065776" y="1874520"/>
            <a:ext cx="2057400" cy="1600200"/>
          </a:xfrm>
          <a:prstGeom prst="roundRect">
            <a:avLst>
              <a:gd name="adj" fmla="val 5714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57216" y="2057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Span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57216" y="248716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DistilBERT-QA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one window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24688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324344" y="1874520"/>
            <a:ext cx="2057400" cy="1600200"/>
          </a:xfrm>
          <a:prstGeom prst="roundRect">
            <a:avLst>
              <a:gd name="adj" fmla="val 5714"/>
            </a:avLst>
          </a:prstGeom>
          <a:solidFill>
            <a:srgbClr val="FDF6F0"/>
          </a:solidFill>
          <a:ln w="12700">
            <a:solidFill>
              <a:srgbClr val="F3DFC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15784" y="2057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Risk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15784" y="248716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per-category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390888" y="24688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582912" y="1874520"/>
            <a:ext cx="2057400" cy="1600200"/>
          </a:xfrm>
          <a:prstGeom prst="roundRect">
            <a:avLst>
              <a:gd name="adj" fmla="val 5714"/>
            </a:avLst>
          </a:prstGeom>
          <a:solidFill>
            <a:srgbClr val="FDF6F0"/>
          </a:solidFill>
          <a:ln w="12700">
            <a:solidFill>
              <a:srgbClr val="F3DFC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74352" y="2057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Explanation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674352" y="2487168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807208" y="3703320"/>
            <a:ext cx="2057400" cy="841248"/>
          </a:xfrm>
          <a:prstGeom prst="roundRect">
            <a:avLst>
              <a:gd name="adj" fmla="val 6522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880360" y="379476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22.0% of clauses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here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65776" y="3703320"/>
            <a:ext cx="2057400" cy="841248"/>
          </a:xfrm>
          <a:prstGeom prst="roundRect">
            <a:avLst>
              <a:gd name="adj" fmla="val 6522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38928" y="379476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56.3% of clauses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here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24344" y="3703320"/>
            <a:ext cx="2057400" cy="841248"/>
          </a:xfrm>
          <a:prstGeom prst="roundRect">
            <a:avLst>
              <a:gd name="adj" fmla="val 6522"/>
            </a:avLst>
          </a:prstGeom>
          <a:solidFill>
            <a:srgbClr val="EEF8F3"/>
          </a:solidFill>
          <a:ln w="12700">
            <a:solidFill>
              <a:srgbClr val="CDEBD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97496" y="379476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— lookup is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by design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582912" y="3703320"/>
            <a:ext cx="2057400" cy="841248"/>
          </a:xfrm>
          <a:prstGeom prst="roundRect">
            <a:avLst>
              <a:gd name="adj" fmla="val 6522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56064" y="3794760"/>
            <a:ext cx="1911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wrong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80060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9808" y="500176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133856" y="4937760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of this talk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68096" y="536752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was evaluated on its own and looks respectable. Assembled, only 21.7% of gold clauses survive. Component scores do not compose — and nobody had measured that.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read a 33,000-character contract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windows, max-pooled — the multiple-instance learning rule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1783080"/>
            <a:ext cx="10241280" cy="384048"/>
          </a:xfrm>
          <a:prstGeom prst="rect">
            <a:avLst/>
          </a:prstGeom>
          <a:solidFill>
            <a:srgbClr val="EFF1F7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1783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contract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20840" y="1783080"/>
            <a:ext cx="274320" cy="384048"/>
          </a:xfrm>
          <a:prstGeom prst="rect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6072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clause you need — 196 chars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377440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23774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1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237744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31720" y="2779776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77440" y="277977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2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77977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49040" y="3182112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94760" y="31821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3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318211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66360" y="3584448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0" y="35844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4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358444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83680" y="3986784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EEF8F3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398678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5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823960" y="398678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4434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   22 windows for a median contract, 226 for the longest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778240" y="2377440"/>
            <a:ext cx="2926080" cy="1133856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69680" y="25146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= 0.91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category present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5093208"/>
            <a:ext cx="292608" cy="292608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33856" y="50292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removes the recall ceiling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68096" y="545896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overlap by 500 chars — more than the median clause — so no clause can fall between two windows.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489204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64808" y="509320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48856" y="50292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costs precision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483096" y="54589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spurious window anywhere flips the whole contract to positive. Long contracts are structurally more likely to false-positive.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three models on one laptop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M4, 16 GB unified memory, Metal backend — no CUDA at any point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883664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883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18288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Presence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DistilBERT-base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2606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24,000 of 53,662 windows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epochs · batch 16 · LR 2e-5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tokens · MPS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3675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≈49 min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325112" y="169164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44568" y="1883664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44568" y="1883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946904" y="18288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44568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DistilBERT-QA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44568" y="2606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of 11,156 examples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epochs · batch 16 · LR 3e-5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tokens · MPS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44568" y="3675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≈23 min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101584" y="169164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1883664"/>
            <a:ext cx="310896" cy="310896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1883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723376" y="18288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FLAN-T5-small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2606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 of 11,156 pairs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epochs · batch 8 · LR 3e-4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in / 48 out · CPU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3675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≈8 min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" y="4636008"/>
            <a:ext cx="292608" cy="292608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33856" y="45720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laptop cost us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68096" y="5001768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Backbones downsized: DeBERTa-v3 produced NaN gradients on MPS, and MPS memory never released between runs, so the summarizer trained on CPU. Absolute scores understate what the same method would reach on CUDA.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443484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64808" y="4636008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48856" y="45720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recovered afterwards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83096" y="500176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full-data control run kept its gradient-norm trace: median 4.66, and 98.4% of steps exceed the clipping threshold of 1.0. Clipping is active on nearly every step, not a rare safety net.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held out during training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examiner is entitled to ask whether the test set leaked into our choices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15568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1645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data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1645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11155680" cy="603504"/>
          </a:xfrm>
          <a:prstGeom prst="rect">
            <a:avLst/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350008"/>
            <a:ext cx="274320" cy="27432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219456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(MIL)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19456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of the TRAINING windows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219456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only — clean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852928"/>
            <a:ext cx="111556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008376"/>
            <a:ext cx="274320" cy="274320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285292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(QA)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285292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285292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validation loss exists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11296"/>
            <a:ext cx="11155680" cy="603504"/>
          </a:xfrm>
          <a:prstGeom prst="rect">
            <a:avLst/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3666744"/>
            <a:ext cx="274320" cy="27432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7280" y="351129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Summarizer (deployed)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351129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3511296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checkpoint behind every reported result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169664"/>
            <a:ext cx="111556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4325112"/>
            <a:ext cx="274320" cy="274320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97280" y="416966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Summarizer (exploratory run)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749040" y="416966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clauses from the TEST split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138160" y="416966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only — but the wrong data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02920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" y="5230368"/>
            <a:ext cx="292608" cy="292608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33856" y="51663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was tuned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68096" y="55961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hyperparameter is a published default. No variant was ever compared on the test set — which also means the transformer competes untuned.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63640" y="502920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64808" y="523036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48856" y="51663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we got wrong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483096" y="55961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exploratory summarizer run monitored loss on test clauses. It selected no checkpoint, and the deployed model was rebuilt without it — but we should not have done it.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training runs actually looked like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curves — which is exactly why the gradient-norm trace mattered</a:t>
            </a:r>
            <a:endParaRPr lang="en-US" sz="1350" dirty="0"/>
          </a:p>
        </p:txBody>
      </p:sp>
      <p:pic>
        <p:nvPicPr>
          <p:cNvPr id="6" name="Image 0" descr="fig/lr_sche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11155680" cy="31455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87375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Learning-rate schedule for all three runs: linear decay, no warmup (Fig. 5.1)</a:t>
            </a:r>
            <a:endParaRPr lang="en-US" sz="950" dirty="0"/>
          </a:p>
        </p:txBody>
      </p:sp>
      <p:pic>
        <p:nvPicPr>
          <p:cNvPr id="8" name="Image 1" descr="fig/presence_lo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0"/>
            <a:ext cx="1810512" cy="10515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514600" y="50292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Presence: 0.320 → 0.261 train,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0.278 → 0.257 validation</a:t>
            </a:r>
            <a:endParaRPr lang="en-US" sz="1000" dirty="0"/>
          </a:p>
        </p:txBody>
      </p:sp>
      <p:pic>
        <p:nvPicPr>
          <p:cNvPr id="10" name="Image 2" descr="fig/summarizer_lo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5029200"/>
            <a:ext cx="1810512" cy="10515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092440" y="502920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Summarizer: collapsed fast 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hint of template memorization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test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102 unseen contracts for every model, every number regenerable from disk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591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contracts, never trained 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45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4,182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3591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decisions scored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645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2,667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3591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answer-bearing windows for span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89720" y="1645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9189720" y="23591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clauses for the summarizer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401568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33856" y="33375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resample CONTRACTS, not decisions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" y="376732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of the 4,182 decisions come from the same contract and move together. Resampling cells would give intervals roughly half as wide as the truth.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32004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4808" y="3401568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48856" y="33375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sources of uncertainty, all measured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83096" y="376732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over contracts (10,000 resamples), model-seed SD over 3 runs, dataset-split SD over 20 refits of the baseline.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4956048"/>
            <a:ext cx="292608" cy="292608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33856" y="4892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Regenerable, not retyped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" y="53218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notebook rebuilds every table from saved checkpoints; artifact SHA-256 fingerprints are in the appendix.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47548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64808" y="4956048"/>
            <a:ext cx="292608" cy="292608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48856" y="48920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checked mechanically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483096" y="53218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verify_numbers.py cross-checks 84 reported figures and 17 derived comparisons against the source data. It reports zero mismatches.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we are working with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properties of CUAD shaped every design decision that followed</a:t>
            </a:r>
            <a:endParaRPr lang="en-US" sz="1350" dirty="0"/>
          </a:p>
        </p:txBody>
      </p:sp>
      <p:pic>
        <p:nvPicPr>
          <p:cNvPr id="6" name="Image 0" descr="fig/spli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766560" cy="3813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5412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positive rate, training vs test half of the split (Fig. 3.1 of the report)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543800" y="16916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44968" y="1892808"/>
            <a:ext cx="292608" cy="292608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29016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is balanced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63256" y="2258568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= 0.986 between the two halves, mean absolute difference 3.4 points. Drawn once at random and never re-drawn to look better.</a:t>
            </a:r>
            <a:endParaRPr lang="en-US" sz="1100" dirty="0"/>
          </a:p>
        </p:txBody>
      </p:sp>
      <p:pic>
        <p:nvPicPr>
          <p:cNvPr id="12" name="Image 1" descr="fig/risk_distribu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3703320"/>
            <a:ext cx="4014216" cy="23317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16952" y="6071616"/>
            <a:ext cx="4014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41 categories across three risk levels (Fig. 4.7)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RQ1: the transformer loses to a bag of words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micro-F1 over 4,182 (contract, category) decisions</a:t>
            </a:r>
            <a:endParaRPr lang="en-US" sz="1350" dirty="0"/>
          </a:p>
        </p:txBody>
      </p:sp>
      <p:pic>
        <p:nvPicPr>
          <p:cNvPr id="6" name="Image 0" descr="fig/chart_leader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76656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69164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90688" y="1892808"/>
            <a:ext cx="292608" cy="292608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74736" y="18288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stand behind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808976" y="225856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lexical baseline beats the windowed transformer by +0.081, and it survives every control we could construct.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370332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90688" y="390448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74736" y="38404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withdrew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808976" y="427024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ensemble's +0.0014 lead is not a result. Bootstrap, seed variance and split variance all exceed it.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is strong, and where it is not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formulaic categories are close to solved; the tail is not</a:t>
            </a:r>
            <a:endParaRPr lang="en-US" sz="1350" dirty="0"/>
          </a:p>
        </p:txBody>
      </p:sp>
      <p:pic>
        <p:nvPicPr>
          <p:cNvPr id="6" name="Image 0" descr="fig/per_category_f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675120" cy="4114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4301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F1, twelve strongest categories (Fig. 6.3)</a:t>
            </a:r>
            <a:endParaRPr lang="en-US" sz="950" dirty="0"/>
          </a:p>
        </p:txBody>
      </p:sp>
      <p:pic>
        <p:nvPicPr>
          <p:cNvPr id="8" name="Image 1" descr="fig/confusion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691640"/>
            <a:ext cx="2651760" cy="21214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498080" y="38496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(Fig. 6.2)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7498080" y="420624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699248" y="4407408"/>
            <a:ext cx="292608" cy="292608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83296" y="43434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ends of the distribution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7717536" y="477316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Name 1.000, Parties 0.995, Governing Law 0.961 — but five categories with ≤7 test positives score 0.000. Micro-F1 0.776 against macro-F1 0.572.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presence model over-fires by design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Max-pooling turns 35 chances to be wrong into one document-level answer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0.562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048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at threshold 0.5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91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0.908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4048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— it says yes to almost everything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691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11.0%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4048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absent categories falsely flagged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89720" y="1691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22.8%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9189720" y="24048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everything it flags is wrong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49300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33856" y="34290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made it worse, not better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" y="385876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all 53,662 windows moved recall 0.908 → 0.927 and precision 0.562 → 0.555. A better window scorer produces more spurious maxima.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32918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4808" y="3493008"/>
            <a:ext cx="292608" cy="292608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48856" y="34290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aggregation rules, none good enough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83096" y="385876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mean beats max at the default threshold; max wins given its own. No rule at any threshold reaches the baseline.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11155680" cy="1188720"/>
          </a:xfrm>
          <a:prstGeom prst="roundRect">
            <a:avLst>
              <a:gd name="adj" fmla="val 6154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047488"/>
            <a:ext cx="292608" cy="292608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33856" y="4983480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caveat we must state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" y="541324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0.5 threshold was never chosen — it is the softmax default. Swept, the transformer reaches 0.750 instead of 0.694. Part of its deficit is an un-chosen operating point, not an inability to discriminate.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ranked a leaderboard by noise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winning margin is smaller than every error bar we can measure</a:t>
            </a:r>
            <a:endParaRPr lang="en-US" sz="1350" dirty="0"/>
          </a:p>
        </p:txBody>
      </p:sp>
      <p:pic>
        <p:nvPicPr>
          <p:cNvPr id="6" name="Image 0" descr="fig/chart_vari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949440" cy="42153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0" y="17373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alternative explanation, tested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224028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Undertrained?  53,662 windows → −0.0004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Unlucky seed?  3 seeds → gap is 9.5 SD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pooling?  6 rules → none reach baseline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threshold?  explains 0.056 — a real caveat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0" y="461772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973568" y="481888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7616" y="47548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Reseeding alone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991856" y="518464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the ensemble by up to 0.0042 — three times the margin claimed for it. Seed choice alone would change which model we reported.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metric disagrees with the purpose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HIGH-RISK clauses missed, by configuration</a:t>
            </a:r>
            <a:endParaRPr lang="en-US" sz="1350" dirty="0"/>
          </a:p>
        </p:txBody>
      </p:sp>
      <p:pic>
        <p:nvPicPr>
          <p:cNvPr id="6" name="Image 0" descr="fig/chart_highri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858000" cy="4206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80960" y="17373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configuration that wins on micro-F1 is the worst one for the clauses that matter most.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88036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 High-risk gold clauses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finds 110, loses 66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finds 152, loses 24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choosing on micro-F1: 42 High-risk clauses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thirds of micro-F1 is dates and party names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80960" y="46177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82128" y="481888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66176" y="47548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 the rare tail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900416" y="51846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AND rule adds nothing at all: F1 0.343 either way, with detections cut from 35 of 70 to 17 of 70.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3b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threshold was never chosen, and the confidence means little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were measured only after the fact — and both turned out to matter</a:t>
            </a:r>
            <a:endParaRPr lang="en-US" sz="1350" dirty="0"/>
          </a:p>
        </p:txBody>
      </p:sp>
      <p:pic>
        <p:nvPicPr>
          <p:cNvPr id="6" name="Image 0" descr="fig/threshold_calib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7680960" cy="29352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6634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sweep and reliability diagram (Fig. 6.4)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503920" y="169164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05088" y="1892808"/>
            <a:ext cx="292608" cy="292608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089136" y="1828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is the softmax default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723376" y="22585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Swept, the transformer reaches 0.750 instead of 0.694 — part of its deficit is an un-chosen operating point.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503920" y="324612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05088" y="344728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089136" y="3383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0.201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723376" y="38130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above 0.9 mean the clause is present about 73% of the time. The app shows this as a confidence bar.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0749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adopt the swept threshold: choosing it after seeing the test set is exactly the tuning the protocol certifies against. It stands as a diagnosis, and as an argument for carving a validation split next time.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span model is handed the wrong window — and answers anyway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taught it a layout that inference never provides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training time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5303520" cy="457200"/>
          </a:xfrm>
          <a:prstGeom prst="rect">
            <a:avLst/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7008" y="2057400"/>
            <a:ext cx="1371600" cy="45720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07008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5786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≈150 chars in — every single example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6459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inference 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2057400"/>
            <a:ext cx="5349240" cy="457200"/>
          </a:xfrm>
          <a:prstGeom prst="rect">
            <a:avLst/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2057400"/>
            <a:ext cx="1188720" cy="457200"/>
          </a:xfrm>
          <a:prstGeom prst="rect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2624328"/>
            <a:ext cx="5349240" cy="457200"/>
          </a:xfrm>
          <a:prstGeom prst="rect">
            <a:avLst/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89720" y="2624328"/>
            <a:ext cx="1188720" cy="457200"/>
          </a:xfrm>
          <a:prstGeom prst="rect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3191256"/>
            <a:ext cx="5349240" cy="457200"/>
          </a:xfrm>
          <a:prstGeom prst="rect">
            <a:avLst/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3191256"/>
            <a:ext cx="1188720" cy="457200"/>
          </a:xfrm>
          <a:prstGeom prst="rect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3749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anywhere — or not in the window at all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160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31.7%</a:t>
            </a:r>
            <a:endParaRPr lang="en-US" sz="3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737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selected window has no clause in it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4160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39.7%</a:t>
            </a:r>
            <a:endParaRPr lang="en-US" sz="38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48737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even when the window IS right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4160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0.763→0.386</a:t>
            </a:r>
            <a:endParaRPr lang="en-US" sz="38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48737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token-F1, isolated → in the pipeline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4160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26" name="Text 24"/>
          <p:cNvSpPr txBox="1"/>
          <p:nvPr/>
        </p:nvSpPr>
        <p:spPr>
          <a:xfrm>
            <a:off x="9189720" y="48737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say “not here”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6235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Max-pooling was trained to detect, not to locate — we reused a detector as a locator, and the span model has no abstention mechanism.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5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summarizer became a 41-way classifier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writes a sentence — it picks one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057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“any attempted assignment … will be void”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035808" y="239572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74720" y="19202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21031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to recognise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961888" y="239572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0" y="1920240"/>
            <a:ext cx="3017520" cy="475488"/>
          </a:xfrm>
          <a:prstGeom prst="roundRect">
            <a:avLst>
              <a:gd name="adj" fmla="val 9615"/>
            </a:avLst>
          </a:prstGeom>
          <a:solidFill>
            <a:srgbClr val="EEF8F3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19202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Anti-Assignment template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555480" y="19202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— correct 70%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2487168"/>
            <a:ext cx="3017520" cy="475488"/>
          </a:xfrm>
          <a:prstGeom prst="roundRect">
            <a:avLst>
              <a:gd name="adj" fmla="val 9615"/>
            </a:avLst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24871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on Liability template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3054096"/>
            <a:ext cx="3017520" cy="475488"/>
          </a:xfrm>
          <a:prstGeom prst="roundRect">
            <a:avLst>
              <a:gd name="adj" fmla="val 9615"/>
            </a:avLst>
          </a:prstGeom>
          <a:solidFill>
            <a:srgbClr val="FDF0F1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305409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ROFR template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555480" y="305409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— wrong 30%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  41 pre-written templates in total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1148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0.775 → 0.116</a:t>
            </a:r>
            <a:endParaRPr lang="en-US" sz="3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8280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ROUGE-L: our templates → clause-specific references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41148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0.115</a:t>
            </a:r>
            <a:endParaRPr lang="en-US" sz="3800" dirty="0"/>
          </a:p>
        </p:txBody>
      </p:sp>
      <p:sp>
        <p:nvSpPr>
          <p:cNvPr id="24" name="Text 22"/>
          <p:cNvSpPr txBox="1"/>
          <p:nvPr/>
        </p:nvSpPr>
        <p:spPr>
          <a:xfrm>
            <a:off x="4389120" y="48280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of the template with NO model at all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1148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8280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outputs are a template, copied verbatim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440680"/>
            <a:ext cx="11155680" cy="1207008"/>
          </a:xfrm>
          <a:prstGeom prst="roundRect">
            <a:avLst>
              <a:gd name="adj" fmla="val 606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" y="564184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33856" y="5577840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worse than a low score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68096" y="600760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hallucinate — but when it picks the wrong template the output is fluent, confident, and about a different provision. Undetectable from the output alone.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end, 78.3% of clauses are lost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describes what a user actually experiences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82396" y="182880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2396" y="1828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1,348 gold clauses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24328"/>
            <a:ext cx="10360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−296 clauses (22.0%)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25396" y="288036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25396" y="28803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1,052 survive presence detection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675888"/>
            <a:ext cx="10360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−759 clauses (56.3%)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51476" y="39319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51476" y="3931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 survive span extraction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83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21.7%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5029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all three stages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[19.6%, 23.9%]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50292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the component scores predicts ≈64%. The pipeline delivers a third of it — which is why we measured this at all.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problem we found, in one place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failures, five of which the component scores concealed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057400"/>
            <a:ext cx="329184" cy="329184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181051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21488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Over-fires: precision 0.562. More data made it worse.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64808" y="2057400"/>
            <a:ext cx="329184" cy="329184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885432" y="181051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85432" y="21488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+0.0014 winning margin is smaller than seed, split and bootstrap noise.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291840"/>
            <a:ext cx="329184" cy="329184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30449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alignment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70432" y="33832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model on micro-F1 misses 37.5% of High-risk clauses.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292608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4808" y="3291840"/>
            <a:ext cx="329184" cy="329184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64808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85432" y="30449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categories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885432" y="33832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rule adds zero F1 on the 10 rarest; 5 categories score 0.000.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16052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4526280"/>
            <a:ext cx="329184" cy="329184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" y="4526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70432" y="427939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170432" y="46177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window 31.7% of the time; token-F1 0.763 → 0.386 in the pipeline.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416052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64808" y="4526280"/>
            <a:ext cx="329184" cy="329184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64808" y="4526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885432" y="427939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885432" y="46177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a template verbatim 100% of the time; 30% the wrong one.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5321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of these — over-firing — was visible from the component tables we started with.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findings survived every check; five beliefs we started with did not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A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that held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EEF8F3"/>
          </a:solidFill>
          <a:ln w="12700">
            <a:solidFill>
              <a:srgbClr val="CDEB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762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evidence over the whole document beats windowed semantic evidence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420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+0.081, and it survives budget, seed, pooling and threshold controls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044952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EEF8F3"/>
          </a:solidFill>
          <a:ln w="12700">
            <a:solidFill>
              <a:srgbClr val="CDEB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11810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 feasibility ceiling before training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48386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60-second retrieval check (64%) killed an architecture at zero cost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986784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EEF8F3"/>
          </a:solidFill>
          <a:ln w="12700">
            <a:solidFill>
              <a:srgbClr val="CDEB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05993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between models damps seed variance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42569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ensemble is 4× less seed-sensitive than the transformer inside it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928616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EEF8F3"/>
          </a:solidFill>
          <a:ln w="12700">
            <a:solidFill>
              <a:srgbClr val="CDEB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0017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extraction genuinely works — given the right window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36752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token-F1 0.763, CI [0.740, 0.782]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1645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Beliefs that did not survive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263640" y="210312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213969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ensemble beats the baseline”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24505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+0.0014 — smaller than bootstrap, seed and split noise alike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2862072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289864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summarizer summarizes”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32095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0.775 → 0.116; a lookup table scores the same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36210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46520" y="365760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“Component scores describe the system”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39684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≈64% predicted, 21.7% delivered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4379976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46520" y="441655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Longformer will not fit in memory”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47274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does, at batch 1 — 14.7 GB of 16. Time is the barrier, not memory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513892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46520" y="517550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“Max-pooling is the ceiling”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446520" y="54864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rules tested; it is a secondary factor, not the cause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LACKINGS FOUND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discovered was missing — in the data, the field, and our own setup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were not known at the start; each was found by running the experiment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" y="1810512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78992" y="16459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 has no plain-English targets at all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164592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wrote 41 ourselves — and that decision is precisely what collapsed the summarizer into a classifier. The dataset gap became the model's failure.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2569464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78992" y="240487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risk-severity model to build on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2404872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NLP operationalizes importance as category membership, not danger to a party. We had nothing to validate our taxonomy against.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3328416"/>
            <a:ext cx="292608" cy="292608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78992" y="316382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rare tail is effectively few-shot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3163824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11–42 positive training contracts for the bottom ten categories. No model learns those at this dataset size; five score 0.000.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4087368"/>
            <a:ext cx="292608" cy="292608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78992" y="392277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rare-tail “errors” are annotation disagreements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3922776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clause labelled Third Party Beneficiary reads as an assignment clause. Our 0.000 scores mix model failure with label ceiling.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4846320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78992" y="468172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carved a validation split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4681728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threshold cannot be chosen and the confidence cannot be calibrated without redrawing the protocol. A structural gap, not an oversight in one experiment.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5605272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8992" y="54406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reports end-to-end survival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544068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had no published figure to compare our 21.7% against — which is also why the number was worth measuring.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217920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these six were only visible because we ran a control or an end-to-end test that the component protocol never asks for.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LACKINGS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work still lacks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 the evidence, not in the code — stated so an examiner does not have to find them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" y="1792224"/>
            <a:ext cx="310896" cy="310896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45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expert validation of the risk taxonomy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303520" y="1645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levels written by three CS students. It is the main contribution over CUAD and the least evidenced part of the thesis.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542032"/>
            <a:ext cx="310896" cy="310896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23957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usability evaluation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23957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outside the team has used Clausify. The claim that risk grouping helps a non-lawyer is untested.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291840"/>
            <a:ext cx="310896" cy="310896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14553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dataset, one jurisdiction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314553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 US contracts from SEC filings. No Bangladeshi contract, no consumer or employment agreement, no other language.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310896" cy="310896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389534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was tuned — in both directions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389534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test-set contamination, but the transformer competes untuned against a baseline with nothing to tune.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4791456"/>
            <a:ext cx="310896" cy="310896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97280" y="464515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faithfulness or readability metric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464515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ROUGE and read outputs. No BERTScore, no entailment check, no human rating of legal meaning.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5541264"/>
            <a:ext cx="310896" cy="310896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7280" y="53949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and summarizer are single runs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53949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presence model was reseeded and given a full-data control. The others carry unmeasured variance.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17220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two are large enough that we would not present this as more than a prototype until they are closed.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Clausify — and three caveats it must carry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interface, with measured limits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892808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33856" y="1828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measured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258568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contract 27.1 s; worst case 32.4 s. The earlier “5–15 seconds” claim was an impression, not a measurement.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44568" y="189280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28616" y="1828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not a probability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2258568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0.201. A nearly full bar (&gt;0.9) means the clause is present about 73% of the time.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1892808"/>
            <a:ext cx="292608" cy="292608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23376" y="18288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contracts are truncated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2258568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30-window cap = first 45,500 characters. 38.4% of CUAD contracts are longer.</a:t>
            </a:r>
            <a:endParaRPr lang="en-US" sz="1100" dirty="0"/>
          </a:p>
        </p:txBody>
      </p:sp>
      <p:pic>
        <p:nvPicPr>
          <p:cNvPr id="18" name="Image 0" descr="fig/app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86200"/>
            <a:ext cx="3337560" cy="208483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48640" y="600760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risk-prioritized report Clausify produces (Fig. 7.2)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160520" y="3886200"/>
            <a:ext cx="7543800" cy="1170432"/>
          </a:xfrm>
          <a:prstGeom prst="roundRect">
            <a:avLst>
              <a:gd name="adj" fmla="val 625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361688" y="4087368"/>
            <a:ext cx="292608" cy="292608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45736" y="40233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holds — because it runs locally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379976" y="4453128"/>
            <a:ext cx="7086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uploaded file is read into memory, never written to disk, never logged. That guarantee comes from running locally, not from anything the app does.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160520" y="5148072"/>
            <a:ext cx="7543800" cy="1170432"/>
          </a:xfrm>
          <a:prstGeom prst="roundRect">
            <a:avLst>
              <a:gd name="adj" fmla="val 625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361688" y="5349240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45736" y="528523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card as “look here”, not “this is the clause”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4379976" y="5715000"/>
            <a:ext cx="7086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badge and category are far more reliable than the quoted sentence beneath them, which matches the real clause in about one case in five.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far we came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leaderboard number to a system we can describe honestly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057400" cy="1965960"/>
          </a:xfrm>
          <a:prstGeom prst="roundRect">
            <a:avLst>
              <a:gd name="adj" fmla="val 465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8470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39696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baseline that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1635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TF–IDF + logistic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regression, 0.775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615184" y="25146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807208" y="1737360"/>
            <a:ext cx="2057400" cy="1965960"/>
          </a:xfrm>
          <a:prstGeom prst="roundRect">
            <a:avLst>
              <a:gd name="adj" fmla="val 465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98648" y="18470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898648" y="2139696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transformer that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not beat it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898648" y="281635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 DistilBERT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0.694 — and why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873752" y="25146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065776" y="1737360"/>
            <a:ext cx="2057400" cy="1965960"/>
          </a:xfrm>
          <a:prstGeom prst="roundRect">
            <a:avLst>
              <a:gd name="adj" fmla="val 465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57216" y="18470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157216" y="2139696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that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explained it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57216" y="281635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· seed · pooling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threshold · split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25146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324344" y="1737360"/>
            <a:ext cx="2057400" cy="1965960"/>
          </a:xfrm>
          <a:prstGeom prst="roundRect">
            <a:avLst>
              <a:gd name="adj" fmla="val 465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15784" y="18470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415784" y="2139696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pipeline measured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415784" y="281635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21.7% survive — 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users feel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390888" y="25146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9582912" y="1737360"/>
            <a:ext cx="2057400" cy="1965960"/>
          </a:xfrm>
          <a:prstGeom prst="roundRect">
            <a:avLst>
              <a:gd name="adj" fmla="val 4651"/>
            </a:avLst>
          </a:prstGeom>
          <a:solidFill>
            <a:srgbClr val="EEF8F3"/>
          </a:solidFill>
          <a:ln w="12700">
            <a:solidFill>
              <a:srgbClr val="CDEBD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74352" y="18470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674352" y="2139696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prototype with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stated limits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674352" y="281635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Clausify + every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 written down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9776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exists at the end of it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8640" y="4434840"/>
            <a:ext cx="5486400" cy="731520"/>
          </a:xfrm>
          <a:prstGeom prst="roundRect">
            <a:avLst>
              <a:gd name="adj" fmla="val 750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" y="4654296"/>
            <a:ext cx="274320" cy="27432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133856" y="448970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trained models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133856" y="48006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presence, span, explanation — all reproducible from saved checkpoints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4434840"/>
            <a:ext cx="5486400" cy="731520"/>
          </a:xfrm>
          <a:prstGeom prst="roundRect">
            <a:avLst>
              <a:gd name="adj" fmla="val 750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64808" y="4654296"/>
            <a:ext cx="274320" cy="27432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48856" y="448970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experiments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848856" y="48006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controls, rare tail, risk-weighted, threshold, calibration, ablation, end-to-end, cost benchmark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5276088"/>
            <a:ext cx="5486400" cy="731520"/>
          </a:xfrm>
          <a:prstGeom prst="roundRect">
            <a:avLst>
              <a:gd name="adj" fmla="val 750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808" y="5495544"/>
            <a:ext cx="274320" cy="27432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133856" y="53309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numbers verified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133856" y="56418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reported figures and 17 derived comparisons, checked mechanically against source data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63640" y="5276088"/>
            <a:ext cx="5486400" cy="731520"/>
          </a:xfrm>
          <a:prstGeom prst="roundRect">
            <a:avLst>
              <a:gd name="adj" fmla="val 750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64808" y="5495544"/>
            <a:ext cx="274320" cy="27432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48856" y="53309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deployed prototype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848856" y="56418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Clausify, running locally, with every measured limitation stated in the interface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I — no compute required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highest-value things left, and none of them need a GPU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155680" cy="987552"/>
          </a:xfrm>
          <a:prstGeom prst="roundRect">
            <a:avLst>
              <a:gd name="adj" fmla="val 7407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002536"/>
            <a:ext cx="384048" cy="38404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783080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taxonomy reviewed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1783080"/>
            <a:ext cx="6492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law students, 30 minutes each. Report Cohen's κ and the disputed categories whatever they are. The sheet and scoring script are already written.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11155680" cy="987552"/>
          </a:xfrm>
          <a:prstGeom prst="roundRect">
            <a:avLst>
              <a:gd name="adj" fmla="val 7407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3118104"/>
            <a:ext cx="384048" cy="38404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898648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someone using Clausify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898648"/>
            <a:ext cx="6492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participants. Watch specifically for over-trust in the quoted text and the confidence bar — both of which we have shown are unwarranted.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22776"/>
            <a:ext cx="11155680" cy="987552"/>
          </a:xfrm>
          <a:prstGeom prst="roundRect">
            <a:avLst>
              <a:gd name="adj" fmla="val 7407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233672"/>
            <a:ext cx="384048" cy="384048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014216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 the objective that matters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4014216"/>
            <a:ext cx="6492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risk-weighted criterion, choose the ensemble rule and thresholds on a validation split, then report once on test.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038344"/>
            <a:ext cx="11155680" cy="987552"/>
          </a:xfrm>
          <a:prstGeom prst="roundRect">
            <a:avLst>
              <a:gd name="adj" fmla="val 7407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5349240"/>
            <a:ext cx="384048" cy="384048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5129784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the confidence score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5129784"/>
            <a:ext cx="6492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scaling or isotonic regression on a held-out split. Fixes ECE 0.201 with no retraining at all.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17220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value per hour. The top two are the gaps that keep this a prototype.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II — modelling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targets a specific failure from the problems section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86400" cy="1207008"/>
          </a:xfrm>
          <a:prstGeom prst="roundRect">
            <a:avLst>
              <a:gd name="adj" fmla="val 606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89280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33856" y="181965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span model a way to abstain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19456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v2-style unanswerable examples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25328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confident answers from empty windows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86400" cy="1207008"/>
          </a:xfrm>
          <a:prstGeom prst="roundRect">
            <a:avLst>
              <a:gd name="adj" fmla="val 606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64808" y="189280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48856" y="181965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the windows it will actually see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83096" y="219456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 the answer offset instead of re-centring at 150 chars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83096" y="25328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token-F1 0.763 → 0.386 collapse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5486400" cy="1207008"/>
          </a:xfrm>
          <a:prstGeom prst="roundRect">
            <a:avLst>
              <a:gd name="adj" fmla="val 606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264408"/>
            <a:ext cx="292608" cy="292608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33856" y="319125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 trained for locating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356616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max-pool argmax with a model asked which window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68096" y="39044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31.7% wrong-window rate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3063240"/>
            <a:ext cx="5486400" cy="1207008"/>
          </a:xfrm>
          <a:prstGeom prst="roundRect">
            <a:avLst>
              <a:gd name="adj" fmla="val 606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4808" y="3264408"/>
            <a:ext cx="292608" cy="292608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48856" y="319125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Clause-diverse summarization targets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83096" y="356616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150-clause pilot to a few thousand references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83096" y="39044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100% template output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434840"/>
            <a:ext cx="5486400" cy="1207008"/>
          </a:xfrm>
          <a:prstGeom prst="roundRect">
            <a:avLst>
              <a:gd name="adj" fmla="val 606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4636008"/>
            <a:ext cx="292608" cy="292608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33856" y="456285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pooling over windows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68096" y="493776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learned aggregator instead of a fixed statistic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68096" y="52760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aggregation ceiling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4434840"/>
            <a:ext cx="5486400" cy="1207008"/>
          </a:xfrm>
          <a:prstGeom prst="roundRect">
            <a:avLst>
              <a:gd name="adj" fmla="val 606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64808" y="4636008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48856" y="456285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Cross-validation, not one split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483096" y="493776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SD 0.0063 is the largest uncertainty we measured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483096" y="52760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single-split fragility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Clause Detection, Risk Prioritization and Plain-Language Explanation on CUAD</dc:title>
  <dc:subject>PptxGenJS Presentation</dc:subject>
  <dc:creator>Jerin Aktar, Afnan Mazumdar, Shoyeb Hasan Sayem</dc:creator>
  <cp:lastModifiedBy>Jerin Aktar, Afnan Mazumdar, Shoyeb Hasan Sayem</cp:lastModifiedBy>
  <cp:revision>1</cp:revision>
  <dcterms:created xsi:type="dcterms:W3CDTF">2026-09-09T08:02:58Z</dcterms:created>
  <dcterms:modified xsi:type="dcterms:W3CDTF">2026-09-09T08:02:58Z</dcterms:modified>
</cp:coreProperties>
</file>